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261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12700">
            <a:solidFill>
              <a:srgbClr val="2B33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1097280"/>
            <a:ext cx="457200" cy="457200"/>
          </a:xfrm>
          <a:prstGeom prst="rect">
            <a:avLst/>
          </a:prstGeom>
          <a:solidFill>
            <a:srgbClr val="2B333F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1097280"/>
            <a:ext cx="457200" cy="457200"/>
          </a:xfrm>
          <a:prstGeom prst="rect">
            <a:avLst/>
          </a:prstGeom>
          <a:solidFill>
            <a:srgbClr val="2B333F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1097280"/>
            <a:ext cx="457200" cy="457200"/>
          </a:xfrm>
          <a:prstGeom prst="rect">
            <a:avLst/>
          </a:prstGeom>
          <a:solidFill>
            <a:srgbClr val="2B333F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0" y="2011680"/>
            <a:ext cx="457200" cy="457200"/>
          </a:xfrm>
          <a:prstGeom prst="rect">
            <a:avLst/>
          </a:prstGeom>
          <a:solidFill>
            <a:srgbClr val="2B333F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2011680"/>
            <a:ext cx="457200" cy="457200"/>
          </a:xfrm>
          <a:prstGeom prst="rect">
            <a:avLst/>
          </a:prstGeom>
          <a:solidFill>
            <a:srgbClr val="2B333F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64240" y="2011680"/>
            <a:ext cx="457200" cy="457200"/>
          </a:xfrm>
          <a:prstGeom prst="rect">
            <a:avLst/>
          </a:prstGeom>
          <a:solidFill>
            <a:srgbClr val="2B333F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64040" y="4846320"/>
            <a:ext cx="1463040" cy="914400"/>
          </a:xfrm>
          <a:prstGeom prst="rect">
            <a:avLst/>
          </a:prstGeom>
          <a:solidFill>
            <a:srgbClr val="232C39"/>
          </a:solidFill>
          <a:ln w="15875">
            <a:solidFill>
              <a:srgbClr val="39D9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48463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DESIGN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1600200"/>
            <a:ext cx="7955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of a 4-Bit Binary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Decimal Conversion and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System Using Logic Gates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658368" y="4297680"/>
            <a:ext cx="457200" cy="54864"/>
          </a:xfrm>
          <a:prstGeom prst="rect">
            <a:avLst/>
          </a:prstGeom>
          <a:solidFill>
            <a:srgbClr val="39D98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BCD Decoder  •  7-Segment Display  •  Gate-Level Implementation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8980" y="5943600"/>
            <a:ext cx="4733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Presented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by:Akhilesh,Yashaswini,Varshita,Dhanush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  |  K.L.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9F9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Convert Binary to Decimal?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systems (computers, counters, sensors) process and store data in binary form. 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read decimal.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3108960"/>
            <a:ext cx="548640" cy="548640"/>
          </a:xfrm>
          <a:prstGeom prst="ellipse">
            <a:avLst/>
          </a:prstGeom>
          <a:solidFill>
            <a:srgbClr val="E9F9F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794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the gap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42519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4-bit binary code into its decimal digit equivalent (0–9).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27889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3108960"/>
            <a:ext cx="548640" cy="548640"/>
          </a:xfrm>
          <a:prstGeom prst="ellipse">
            <a:avLst/>
          </a:prstGeom>
          <a:solidFill>
            <a:srgbClr val="E9F9F1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3794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gates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42519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conversion using only basic logic gates — AND, OR, NOT.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27889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8200" y="3108960"/>
            <a:ext cx="548640" cy="548640"/>
          </a:xfrm>
          <a:prstGeom prst="ellipse">
            <a:avLst/>
          </a:prstGeom>
          <a:solidFill>
            <a:srgbClr val="E9F9F1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58200" y="3794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 display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58200" y="42519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decoded output to a 7-segment display via a BCD-to-7-segment decoder.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Binary to Decimal Converter &amp; Display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9F9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Diagram of the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331720" cy="1554480"/>
          </a:xfrm>
          <a:prstGeom prst="roundRect">
            <a:avLst>
              <a:gd name="adj" fmla="val 4118"/>
            </a:avLst>
          </a:prstGeom>
          <a:solidFill>
            <a:srgbClr val="1B2430"/>
          </a:solidFill>
          <a:ln w="19050">
            <a:solidFill>
              <a:srgbClr val="39D98A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57860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BINARY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 B2 B1 B0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98648" y="3035808"/>
            <a:ext cx="329184" cy="237744"/>
          </a:xfrm>
          <a:prstGeom prst="rightArrow">
            <a:avLst/>
          </a:prstGeom>
          <a:solidFill>
            <a:srgbClr val="39D98A"/>
          </a:solidFill>
          <a:ln/>
        </p:spPr>
      </p:sp>
      <p:sp>
        <p:nvSpPr>
          <p:cNvPr id="9" name="Shape 7"/>
          <p:cNvSpPr/>
          <p:nvPr/>
        </p:nvSpPr>
        <p:spPr>
          <a:xfrm>
            <a:off x="3520440" y="2377440"/>
            <a:ext cx="23317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9050">
            <a:solidFill>
              <a:srgbClr val="C9D0D8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257860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BCD VALIDITY /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LOGIC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11880" y="3383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9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• OR • NOT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70448" y="3035808"/>
            <a:ext cx="329184" cy="237744"/>
          </a:xfrm>
          <a:prstGeom prst="rightArrow">
            <a:avLst/>
          </a:prstGeom>
          <a:solidFill>
            <a:srgbClr val="39D98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92240" y="2377440"/>
            <a:ext cx="23317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9050">
            <a:solidFill>
              <a:srgbClr val="C9D0D8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257860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BCD TO 7-SEG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(IC 7447)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3383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9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Network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42248" y="3035808"/>
            <a:ext cx="329184" cy="237744"/>
          </a:xfrm>
          <a:prstGeom prst="rightArrow">
            <a:avLst/>
          </a:prstGeom>
          <a:solidFill>
            <a:srgbClr val="39D98A"/>
          </a:solidFill>
          <a:ln/>
        </p:spPr>
      </p:sp>
      <p:sp>
        <p:nvSpPr>
          <p:cNvPr id="17" name="Shape 15"/>
          <p:cNvSpPr/>
          <p:nvPr/>
        </p:nvSpPr>
        <p:spPr>
          <a:xfrm>
            <a:off x="9464040" y="2377440"/>
            <a:ext cx="2331720" cy="1554480"/>
          </a:xfrm>
          <a:prstGeom prst="roundRect">
            <a:avLst>
              <a:gd name="adj" fmla="val 4118"/>
            </a:avLst>
          </a:prstGeom>
          <a:solidFill>
            <a:srgbClr val="1B2430"/>
          </a:solidFill>
          <a:ln w="19050">
            <a:solidFill>
              <a:srgbClr val="39D98A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55480" y="257860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7-SEGMENT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555480" y="3383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 0–9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4-bit input first passes through decoding logic built from basic gates, which drives the industry-standard BCD-to-7-segment decoder to light the correct display segments.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Binary to Decimal Converter &amp; Display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9F9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Binary-Coded Decimal (BCD)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4-bit binary word B3B2B1B0 can represent 16 combinations (0000 to 1111).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8421 BCD, only the first </a:t>
            </a:r>
            <a:r>
              <a:rPr lang="en-US" sz="14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combinations (0–9)</a:t>
            </a: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valid decimal digits.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6 combinations (1010–1111) are called </a:t>
            </a:r>
            <a:r>
              <a:rPr lang="en-US" sz="14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"don't-care" states</a:t>
            </a: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they never occur in a valid BCD number and simplify our logic design.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960120" cy="411480"/>
          </a:xfrm>
          <a:prstGeom prst="rect">
            <a:avLst/>
          </a:prstGeom>
          <a:solidFill>
            <a:srgbClr val="1B243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572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983480"/>
            <a:ext cx="9601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1B2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9834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08760" y="4572000"/>
            <a:ext cx="960120" cy="411480"/>
          </a:xfrm>
          <a:prstGeom prst="rect">
            <a:avLst/>
          </a:prstGeom>
          <a:solidFill>
            <a:srgbClr val="1B243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4572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08760" y="4983480"/>
            <a:ext cx="9601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1B2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49834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68880" y="4572000"/>
            <a:ext cx="960120" cy="411480"/>
          </a:xfrm>
          <a:prstGeom prst="rect">
            <a:avLst/>
          </a:prstGeom>
          <a:solidFill>
            <a:srgbClr val="1B243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4572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68880" y="4983480"/>
            <a:ext cx="9601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1B2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49834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9000" y="4572000"/>
            <a:ext cx="960120" cy="411480"/>
          </a:xfrm>
          <a:prstGeom prst="rect">
            <a:avLst/>
          </a:prstGeom>
          <a:solidFill>
            <a:srgbClr val="1B243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4572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29000" y="4983480"/>
            <a:ext cx="9601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1B2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49834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468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(8-4-2-1 code)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164592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7512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21945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0111</a:t>
            </a:r>
            <a:endParaRPr lang="en-US" sz="6000" dirty="0"/>
          </a:p>
        </p:txBody>
      </p:sp>
      <p:sp>
        <p:nvSpPr>
          <p:cNvPr id="26" name="Shape 24"/>
          <p:cNvSpPr/>
          <p:nvPr/>
        </p:nvSpPr>
        <p:spPr>
          <a:xfrm rot="5400000">
            <a:off x="6720840" y="3337560"/>
            <a:ext cx="457200" cy="274320"/>
          </a:xfrm>
          <a:prstGeom prst="rightArrow">
            <a:avLst/>
          </a:prstGeom>
          <a:solidFill>
            <a:srgbClr val="39D98A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3703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9D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Decimal  7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675120" y="4480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 × 8) + (1 × 4) + (1 × 2) + (1 × 1) = 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Binary to Decimal Converter &amp; Display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9F9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 Table (Valid BCD Range 0–9)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77240" cy="384048"/>
          </a:xfrm>
          <a:prstGeom prst="rect">
            <a:avLst/>
          </a:prstGeom>
          <a:solidFill>
            <a:srgbClr val="1B2430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25880" y="1691640"/>
            <a:ext cx="777240" cy="384048"/>
          </a:xfrm>
          <a:prstGeom prst="rect">
            <a:avLst/>
          </a:prstGeom>
          <a:solidFill>
            <a:srgbClr val="1B2430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6916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03120" y="1691640"/>
            <a:ext cx="777240" cy="384048"/>
          </a:xfrm>
          <a:prstGeom prst="rect">
            <a:avLst/>
          </a:prstGeom>
          <a:solidFill>
            <a:srgbClr val="1B2430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6916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80360" y="1691640"/>
            <a:ext cx="777240" cy="384048"/>
          </a:xfrm>
          <a:prstGeom prst="rect">
            <a:avLst/>
          </a:prstGeom>
          <a:solidFill>
            <a:srgbClr val="1B2430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16916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0" y="1691640"/>
            <a:ext cx="777240" cy="384048"/>
          </a:xfrm>
          <a:prstGeom prst="rect">
            <a:avLst/>
          </a:prstGeom>
          <a:solidFill>
            <a:srgbClr val="1B2430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6916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075688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07568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25880" y="2075688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207568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03120" y="2075688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207568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880360" y="2075688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0360" y="207568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0" y="2075688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207568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2459736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45973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325880" y="2459736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25880" y="245973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103120" y="2459736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03120" y="245973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880360" y="2459736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80360" y="245973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0" y="2459736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245973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2843784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284378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325880" y="2843784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25880" y="284378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103120" y="2843784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03120" y="284378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880360" y="2843784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80360" y="284378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657600" y="2843784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0" y="284378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48640" y="3227832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322783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325880" y="3227832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25880" y="322783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2103120" y="3227832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03120" y="322783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2880360" y="3227832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80360" y="322783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657600" y="3227832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0" y="322783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48640" y="3611880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36118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1325880" y="3611880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25880" y="36118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2103120" y="3611880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103120" y="36118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2880360" y="3611880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80360" y="36118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3657600" y="3611880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0" y="36118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548640" y="3995928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3995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1325880" y="3995928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325880" y="3995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2103120" y="3995928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103120" y="3995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2880360" y="3995928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880360" y="3995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3657600" y="3995928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657600" y="3995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548640" y="4379976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8640" y="437997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1325880" y="4379976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325880" y="437997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2103120" y="4379976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03120" y="437997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2880360" y="4379976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880360" y="437997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3657600" y="4379976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657600" y="437997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548640" y="4764024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48640" y="476402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1325880" y="4764024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325880" y="476402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2103120" y="4764024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103120" y="476402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2880360" y="4764024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880360" y="476402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3657600" y="4764024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657600" y="476402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548640" y="5148072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48640" y="514807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1325880" y="5148072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325880" y="514807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2103120" y="5148072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103120" y="514807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2880360" y="5148072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880360" y="514807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3657600" y="5148072"/>
            <a:ext cx="777240" cy="384048"/>
          </a:xfrm>
          <a:prstGeom prst="rect">
            <a:avLst/>
          </a:prstGeom>
          <a:solidFill>
            <a:srgbClr val="EEF1F4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657600" y="514807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05" name="Shape 103"/>
          <p:cNvSpPr/>
          <p:nvPr/>
        </p:nvSpPr>
        <p:spPr>
          <a:xfrm>
            <a:off x="548640" y="5532120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48640" y="55321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1325880" y="5532120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325880" y="55321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2103120" y="5532120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103120" y="55321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2880360" y="5532120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880360" y="55321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3657600" y="5532120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9D0D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657600" y="55321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5486400" y="1691640"/>
            <a:ext cx="6126480" cy="18288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2700">
            <a:solidFill>
              <a:srgbClr val="F0B95C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760720" y="1874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69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 1010 – 1111 (10–15)</a:t>
            </a:r>
            <a:endParaRPr lang="en-US" sz="1500" dirty="0"/>
          </a:p>
        </p:txBody>
      </p:sp>
      <p:sp>
        <p:nvSpPr>
          <p:cNvPr id="117" name="Text 115"/>
          <p:cNvSpPr/>
          <p:nvPr/>
        </p:nvSpPr>
        <p:spPr>
          <a:xfrm>
            <a:off x="5760720" y="2286000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6 combinations never appear in valid BCD data. They are treated as "don't-care" (X) conditions in the K-map, which lets us simplify the Boolean expressions significantly.</a:t>
            </a:r>
            <a:endParaRPr lang="en-US" sz="1250" dirty="0"/>
          </a:p>
        </p:txBody>
      </p:sp>
      <p:sp>
        <p:nvSpPr>
          <p:cNvPr id="118" name="Text 116"/>
          <p:cNvSpPr/>
          <p:nvPr/>
        </p:nvSpPr>
        <p:spPr>
          <a:xfrm>
            <a:off x="5486400" y="374904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K-map simplification using these don't-cares gives the minimized gate-level expressions on the next slide.</a:t>
            </a:r>
            <a:endParaRPr lang="en-US" sz="1250" dirty="0"/>
          </a:p>
        </p:txBody>
      </p:sp>
      <p:sp>
        <p:nvSpPr>
          <p:cNvPr id="119" name="Text 1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Binary to Decimal Converter &amp; Display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2B33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Expressions for 7-Segment Outputs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segment (a–g) of the display is a separate Boolean function of B3B2B1B0, derived via K-map from the truth table.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2B333F"/>
          </a:solidFill>
          <a:ln w="9525">
            <a:solidFill>
              <a:srgbClr val="3A445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194560"/>
            <a:ext cx="384048" cy="384048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0432" y="210312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 + B1 + (B2·B0) + (B2'·B0')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103120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2B333F"/>
          </a:solidFill>
          <a:ln w="9525">
            <a:solidFill>
              <a:srgbClr val="3A44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1928" y="2194560"/>
            <a:ext cx="384048" cy="384048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12" name="Text 10"/>
          <p:cNvSpPr/>
          <p:nvPr/>
        </p:nvSpPr>
        <p:spPr>
          <a:xfrm>
            <a:off x="6281928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93992" y="210312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B2' + (B1'·B0') + (B1·B0)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79776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2B333F"/>
          </a:solidFill>
          <a:ln w="9525">
            <a:solidFill>
              <a:srgbClr val="3A445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2871216"/>
            <a:ext cx="384048" cy="384048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70432" y="277977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 + B0' + B2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2779776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2B333F"/>
          </a:solidFill>
          <a:ln w="9525">
            <a:solidFill>
              <a:srgbClr val="3A445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1928" y="2871216"/>
            <a:ext cx="384048" cy="384048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20" name="Text 18"/>
          <p:cNvSpPr/>
          <p:nvPr/>
        </p:nvSpPr>
        <p:spPr>
          <a:xfrm>
            <a:off x="6281928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93992" y="277977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(B2'·B1'·B0) + B1·B0' + B2·B1'  + B3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456432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2B333F"/>
          </a:solidFill>
          <a:ln w="9525">
            <a:solidFill>
              <a:srgbClr val="3A445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547872"/>
            <a:ext cx="384048" cy="384048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70432" y="345643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(B1'·B0) + (B2·B0)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3456432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2B333F"/>
          </a:solidFill>
          <a:ln w="9525">
            <a:solidFill>
              <a:srgbClr val="3A445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81928" y="3547872"/>
            <a:ext cx="384048" cy="384048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28" name="Text 26"/>
          <p:cNvSpPr/>
          <p:nvPr/>
        </p:nvSpPr>
        <p:spPr>
          <a:xfrm>
            <a:off x="6281928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93992" y="345643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 + (B2·B1') + (B2·B0') + (B1'·B0')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133088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2B333F"/>
          </a:solidFill>
          <a:ln w="9525">
            <a:solidFill>
              <a:srgbClr val="3A445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" y="4224528"/>
            <a:ext cx="384048" cy="384048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70432" y="413308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 + (B2·B1') + (B1·B0')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= NOT   ·   ·  = AND   ·   +  = OR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Binary to Decimal Converter &amp; Display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9F9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STEP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Gate-Level Implementation — Segment 'a'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Realizing  a = B3 + B1 + (B2 . B0) + (B2' . B0')  using AND, OR and NOT gates only:</a:t>
            </a:r>
            <a:endParaRPr lang="en-US" sz="1350" dirty="0"/>
          </a:p>
        </p:txBody>
      </p:sp>
      <p:pic>
        <p:nvPicPr>
          <p:cNvPr id="6" name="Image 0" descr="/home/claude/bcd_ppt/gate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928" y="1828800"/>
            <a:ext cx="7863840" cy="5032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4-input AND / OR / NOT structure is repeated (with different literal combinations) for each of the remaining six segments (b–g).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Binary to Decimal Converter &amp; Display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2B33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STEP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Driving the 7-Segment Display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7-segment display has 7 LED segments (a–g) arranged to form digits 0–9.</a:t>
            </a:r>
            <a:endParaRPr lang="en-US" sz="1400" dirty="0"/>
          </a:p>
          <a:p>
            <a:pPr marL="0" indent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Boolean expression derived earlier directly controls one segment: </a:t>
            </a:r>
            <a:endParaRPr lang="en-US" sz="1400" dirty="0"/>
          </a:p>
          <a:p>
            <a:pPr marL="0" indent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1 → segment ON, Output = 0 → segment OFF.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common-cathode displays this is used directly; common-anode displays need the outputs inverted.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658368" cy="365760"/>
          </a:xfrm>
          <a:prstGeom prst="rect">
            <a:avLst/>
          </a:prstGeom>
          <a:solidFill>
            <a:srgbClr val="2B333F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16052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07008" y="4160520"/>
            <a:ext cx="658368" cy="365760"/>
          </a:xfrm>
          <a:prstGeom prst="rect">
            <a:avLst/>
          </a:prstGeom>
          <a:solidFill>
            <a:srgbClr val="2B333F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416052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65376" y="4160520"/>
            <a:ext cx="658368" cy="365760"/>
          </a:xfrm>
          <a:prstGeom prst="rect">
            <a:avLst/>
          </a:prstGeom>
          <a:solidFill>
            <a:srgbClr val="2B333F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65376" y="416052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23744" y="4160520"/>
            <a:ext cx="658368" cy="365760"/>
          </a:xfrm>
          <a:prstGeom prst="rect">
            <a:avLst/>
          </a:prstGeom>
          <a:solidFill>
            <a:srgbClr val="2B333F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416052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82112" y="4160520"/>
            <a:ext cx="658368" cy="365760"/>
          </a:xfrm>
          <a:prstGeom prst="rect">
            <a:avLst/>
          </a:prstGeom>
          <a:solidFill>
            <a:srgbClr val="2B333F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416052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0" y="4160520"/>
            <a:ext cx="658368" cy="365760"/>
          </a:xfrm>
          <a:prstGeom prst="rect">
            <a:avLst/>
          </a:prstGeom>
          <a:solidFill>
            <a:srgbClr val="2B333F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416052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98848" y="4160520"/>
            <a:ext cx="658368" cy="365760"/>
          </a:xfrm>
          <a:prstGeom prst="rect">
            <a:avLst/>
          </a:prstGeom>
          <a:solidFill>
            <a:srgbClr val="2B333F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8848" y="416052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57216" y="4160520"/>
            <a:ext cx="658368" cy="365760"/>
          </a:xfrm>
          <a:prstGeom prst="rect">
            <a:avLst/>
          </a:prstGeom>
          <a:solidFill>
            <a:srgbClr val="2B333F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57216" y="416052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658368" cy="365760"/>
          </a:xfrm>
          <a:prstGeom prst="rect">
            <a:avLst/>
          </a:prstGeom>
          <a:solidFill>
            <a:srgbClr val="1B2430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5262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207008" y="4526280"/>
            <a:ext cx="658368" cy="365760"/>
          </a:xfrm>
          <a:prstGeom prst="rect">
            <a:avLst/>
          </a:prstGeom>
          <a:solidFill>
            <a:srgbClr val="1B2430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07008" y="45262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865376" y="4526280"/>
            <a:ext cx="658368" cy="365760"/>
          </a:xfrm>
          <a:prstGeom prst="rect">
            <a:avLst/>
          </a:prstGeom>
          <a:solidFill>
            <a:srgbClr val="1B2430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65376" y="45262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23744" y="4526280"/>
            <a:ext cx="658368" cy="365760"/>
          </a:xfrm>
          <a:prstGeom prst="rect">
            <a:avLst/>
          </a:prstGeom>
          <a:solidFill>
            <a:srgbClr val="1B2430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23744" y="45262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182112" y="4526280"/>
            <a:ext cx="658368" cy="365760"/>
          </a:xfrm>
          <a:prstGeom prst="rect">
            <a:avLst/>
          </a:prstGeom>
          <a:solidFill>
            <a:srgbClr val="1B2430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82112" y="45262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840480" y="4526280"/>
            <a:ext cx="658368" cy="365760"/>
          </a:xfrm>
          <a:prstGeom prst="rect">
            <a:avLst/>
          </a:prstGeom>
          <a:solidFill>
            <a:srgbClr val="1B2430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45262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498848" y="4526280"/>
            <a:ext cx="658368" cy="365760"/>
          </a:xfrm>
          <a:prstGeom prst="rect">
            <a:avLst/>
          </a:prstGeom>
          <a:solidFill>
            <a:srgbClr val="1B2430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98848" y="45262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157216" y="4526280"/>
            <a:ext cx="658368" cy="365760"/>
          </a:xfrm>
          <a:prstGeom prst="rect">
            <a:avLst/>
          </a:prstGeom>
          <a:solidFill>
            <a:srgbClr val="1B2430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57216" y="45262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4892040"/>
            <a:ext cx="658368" cy="365760"/>
          </a:xfrm>
          <a:prstGeom prst="rect">
            <a:avLst/>
          </a:prstGeom>
          <a:solidFill>
            <a:srgbClr val="242C39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89204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207008" y="4892040"/>
            <a:ext cx="658368" cy="365760"/>
          </a:xfrm>
          <a:prstGeom prst="rect">
            <a:avLst/>
          </a:prstGeom>
          <a:solidFill>
            <a:srgbClr val="242C39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07008" y="489204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865376" y="4892040"/>
            <a:ext cx="658368" cy="365760"/>
          </a:xfrm>
          <a:prstGeom prst="rect">
            <a:avLst/>
          </a:prstGeom>
          <a:solidFill>
            <a:srgbClr val="242C39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65376" y="489204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523744" y="4892040"/>
            <a:ext cx="658368" cy="365760"/>
          </a:xfrm>
          <a:prstGeom prst="rect">
            <a:avLst/>
          </a:prstGeom>
          <a:solidFill>
            <a:srgbClr val="242C39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23744" y="489204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182112" y="4892040"/>
            <a:ext cx="658368" cy="365760"/>
          </a:xfrm>
          <a:prstGeom prst="rect">
            <a:avLst/>
          </a:prstGeom>
          <a:solidFill>
            <a:srgbClr val="242C39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82112" y="489204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840480" y="4892040"/>
            <a:ext cx="658368" cy="365760"/>
          </a:xfrm>
          <a:prstGeom prst="rect">
            <a:avLst/>
          </a:prstGeom>
          <a:solidFill>
            <a:srgbClr val="242C39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0" y="489204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498848" y="4892040"/>
            <a:ext cx="658368" cy="365760"/>
          </a:xfrm>
          <a:prstGeom prst="rect">
            <a:avLst/>
          </a:prstGeom>
          <a:solidFill>
            <a:srgbClr val="242C39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98848" y="489204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157216" y="4892040"/>
            <a:ext cx="658368" cy="365760"/>
          </a:xfrm>
          <a:prstGeom prst="rect">
            <a:avLst/>
          </a:prstGeom>
          <a:solidFill>
            <a:srgbClr val="242C39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57216" y="489204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48640" y="5257800"/>
            <a:ext cx="658368" cy="365760"/>
          </a:xfrm>
          <a:prstGeom prst="rect">
            <a:avLst/>
          </a:prstGeom>
          <a:solidFill>
            <a:srgbClr val="1B2430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525780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207008" y="5257800"/>
            <a:ext cx="658368" cy="365760"/>
          </a:xfrm>
          <a:prstGeom prst="rect">
            <a:avLst/>
          </a:prstGeom>
          <a:solidFill>
            <a:srgbClr val="1B2430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07008" y="525780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865376" y="5257800"/>
            <a:ext cx="658368" cy="365760"/>
          </a:xfrm>
          <a:prstGeom prst="rect">
            <a:avLst/>
          </a:prstGeom>
          <a:solidFill>
            <a:srgbClr val="1B2430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65376" y="525780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523744" y="5257800"/>
            <a:ext cx="658368" cy="365760"/>
          </a:xfrm>
          <a:prstGeom prst="rect">
            <a:avLst/>
          </a:prstGeom>
          <a:solidFill>
            <a:srgbClr val="1B2430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23744" y="525780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182112" y="5257800"/>
            <a:ext cx="658368" cy="365760"/>
          </a:xfrm>
          <a:prstGeom prst="rect">
            <a:avLst/>
          </a:prstGeom>
          <a:solidFill>
            <a:srgbClr val="1B2430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82112" y="525780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840480" y="5257800"/>
            <a:ext cx="658368" cy="365760"/>
          </a:xfrm>
          <a:prstGeom prst="rect">
            <a:avLst/>
          </a:prstGeom>
          <a:solidFill>
            <a:srgbClr val="1B2430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40480" y="525780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498848" y="5257800"/>
            <a:ext cx="658368" cy="365760"/>
          </a:xfrm>
          <a:prstGeom prst="rect">
            <a:avLst/>
          </a:prstGeom>
          <a:solidFill>
            <a:srgbClr val="1B2430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98848" y="525780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157216" y="5257800"/>
            <a:ext cx="658368" cy="365760"/>
          </a:xfrm>
          <a:prstGeom prst="rect">
            <a:avLst/>
          </a:prstGeom>
          <a:solidFill>
            <a:srgbClr val="1B2430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57216" y="525780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548640" y="5623560"/>
            <a:ext cx="658368" cy="365760"/>
          </a:xfrm>
          <a:prstGeom prst="rect">
            <a:avLst/>
          </a:prstGeom>
          <a:solidFill>
            <a:srgbClr val="242C39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8640" y="562356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1207008" y="5623560"/>
            <a:ext cx="658368" cy="365760"/>
          </a:xfrm>
          <a:prstGeom prst="rect">
            <a:avLst/>
          </a:prstGeom>
          <a:solidFill>
            <a:srgbClr val="242C39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207008" y="562356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865376" y="5623560"/>
            <a:ext cx="658368" cy="365760"/>
          </a:xfrm>
          <a:prstGeom prst="rect">
            <a:avLst/>
          </a:prstGeom>
          <a:solidFill>
            <a:srgbClr val="242C39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865376" y="562356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2523744" y="5623560"/>
            <a:ext cx="658368" cy="365760"/>
          </a:xfrm>
          <a:prstGeom prst="rect">
            <a:avLst/>
          </a:prstGeom>
          <a:solidFill>
            <a:srgbClr val="242C39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523744" y="562356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3182112" y="5623560"/>
            <a:ext cx="658368" cy="365760"/>
          </a:xfrm>
          <a:prstGeom prst="rect">
            <a:avLst/>
          </a:prstGeom>
          <a:solidFill>
            <a:srgbClr val="242C39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182112" y="562356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3840480" y="5623560"/>
            <a:ext cx="658368" cy="365760"/>
          </a:xfrm>
          <a:prstGeom prst="rect">
            <a:avLst/>
          </a:prstGeom>
          <a:solidFill>
            <a:srgbClr val="242C39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840480" y="562356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4498848" y="5623560"/>
            <a:ext cx="658368" cy="365760"/>
          </a:xfrm>
          <a:prstGeom prst="rect">
            <a:avLst/>
          </a:prstGeom>
          <a:solidFill>
            <a:srgbClr val="242C39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498848" y="562356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5157216" y="5623560"/>
            <a:ext cx="658368" cy="365760"/>
          </a:xfrm>
          <a:prstGeom prst="rect">
            <a:avLst/>
          </a:prstGeom>
          <a:solidFill>
            <a:srgbClr val="242C39"/>
          </a:solidFill>
          <a:ln w="6350">
            <a:solidFill>
              <a:srgbClr val="3A445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157216" y="562356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548640" y="6080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segment patterns for selected digits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7863840" y="1554480"/>
            <a:ext cx="3749040" cy="4480560"/>
          </a:xfrm>
          <a:prstGeom prst="roundRect">
            <a:avLst>
              <a:gd name="adj" fmla="val 1951"/>
            </a:avLst>
          </a:prstGeom>
          <a:solidFill>
            <a:srgbClr val="2B333F"/>
          </a:solidFill>
          <a:ln w="12700">
            <a:solidFill>
              <a:srgbClr val="3A445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86384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MAP</a:t>
            </a:r>
            <a:endParaRPr lang="en-US" sz="1100" dirty="0"/>
          </a:p>
        </p:txBody>
      </p:sp>
      <p:pic>
        <p:nvPicPr>
          <p:cNvPr id="89" name="Image 0" descr="/home/claude/bcd_ppt/sevens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148840"/>
            <a:ext cx="1645920" cy="2743200"/>
          </a:xfrm>
          <a:prstGeom prst="rect">
            <a:avLst/>
          </a:prstGeom>
        </p:spPr>
      </p:pic>
      <p:sp>
        <p:nvSpPr>
          <p:cNvPr id="90" name="Text 87"/>
          <p:cNvSpPr/>
          <p:nvPr/>
        </p:nvSpPr>
        <p:spPr>
          <a:xfrm>
            <a:off x="7863840" y="5029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  7</a:t>
            </a:r>
            <a:endParaRPr lang="en-US" sz="1800" dirty="0"/>
          </a:p>
        </p:txBody>
      </p:sp>
      <p:sp>
        <p:nvSpPr>
          <p:cNvPr id="91" name="Text 88"/>
          <p:cNvSpPr/>
          <p:nvPr/>
        </p:nvSpPr>
        <p:spPr>
          <a:xfrm>
            <a:off x="7863840" y="5394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Segments a, b, c = ON</a:t>
            </a:r>
            <a:endParaRPr lang="en-US" sz="1150" dirty="0"/>
          </a:p>
        </p:txBody>
      </p:sp>
      <p:sp>
        <p:nvSpPr>
          <p:cNvPr id="92" name="Text 8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Binary to Decimal Converter &amp; Display</a:t>
            </a:r>
            <a:endParaRPr lang="en-US" sz="900" dirty="0"/>
          </a:p>
        </p:txBody>
      </p:sp>
      <p:sp>
        <p:nvSpPr>
          <p:cNvPr id="93" name="Text 9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9F9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38528"/>
            <a:ext cx="438912" cy="438912"/>
          </a:xfrm>
          <a:prstGeom prst="ellipse">
            <a:avLst/>
          </a:prstGeom>
          <a:solidFill>
            <a:srgbClr val="E9F9F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Clocks &amp; Timers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internal binary counters into human-readable hour/minute/second digits.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938528"/>
            <a:ext cx="438912" cy="438912"/>
          </a:xfrm>
          <a:prstGeom prst="ellipse">
            <a:avLst/>
          </a:prstGeom>
          <a:solidFill>
            <a:srgbClr val="E9F9F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2514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2971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Displaying binary computation results as decimal numbers on-screen.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1938528"/>
            <a:ext cx="438912" cy="438912"/>
          </a:xfrm>
          <a:prstGeom prst="ellipse">
            <a:avLst/>
          </a:prstGeom>
          <a:solidFill>
            <a:srgbClr val="E9F9F1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2514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Counters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2971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counters, token/queue displays, and production line counters in industries.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224528"/>
            <a:ext cx="438912" cy="438912"/>
          </a:xfrm>
          <a:prstGeom prst="ellipse">
            <a:avLst/>
          </a:prstGeom>
          <a:solidFill>
            <a:srgbClr val="E9F9F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24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800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Instruments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5257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multimeters and frequency counters showing decimal readouts.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43400" y="402336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4224528"/>
            <a:ext cx="438912" cy="438912"/>
          </a:xfrm>
          <a:prstGeom prst="ellipse">
            <a:avLst/>
          </a:prstGeom>
          <a:solidFill>
            <a:srgbClr val="E9F9F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224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17720" y="4800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 / Floor Indicators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17720" y="5257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position sensor binary codes into visible floor numbers.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8160" y="402336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66760" y="4224528"/>
            <a:ext cx="438912" cy="438912"/>
          </a:xfrm>
          <a:prstGeom prst="ellipse">
            <a:avLst/>
          </a:prstGeom>
          <a:solidFill>
            <a:srgbClr val="E9F9F1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4224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12480" y="4800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412480" y="5257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Microcontroller-based systems needing a simple numeric display interface.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Binary to Decimal Converter &amp; Display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274320" cy="274320"/>
          </a:xfrm>
          <a:prstGeom prst="rect">
            <a:avLst/>
          </a:prstGeom>
          <a:solidFill>
            <a:srgbClr val="2B333F"/>
          </a:solidFill>
          <a:ln w="9525">
            <a:solidFill>
              <a:srgbClr val="39D9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548640"/>
            <a:ext cx="274320" cy="274320"/>
          </a:xfrm>
          <a:prstGeom prst="rect">
            <a:avLst/>
          </a:prstGeom>
          <a:solidFill>
            <a:srgbClr val="2B333F"/>
          </a:solidFill>
          <a:ln w="9525">
            <a:solidFill>
              <a:srgbClr val="39D9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548640"/>
            <a:ext cx="274320" cy="274320"/>
          </a:xfrm>
          <a:prstGeom prst="rect">
            <a:avLst/>
          </a:prstGeom>
          <a:solidFill>
            <a:srgbClr val="2B333F"/>
          </a:solidFill>
          <a:ln w="9525">
            <a:solidFill>
              <a:srgbClr val="39D9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548640"/>
            <a:ext cx="274320" cy="274320"/>
          </a:xfrm>
          <a:prstGeom prst="rect">
            <a:avLst/>
          </a:prstGeom>
          <a:solidFill>
            <a:srgbClr val="2B333F"/>
          </a:solidFill>
          <a:ln w="9525">
            <a:solidFill>
              <a:srgbClr val="39D9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548640"/>
            <a:ext cx="274320" cy="274320"/>
          </a:xfrm>
          <a:prstGeom prst="rect">
            <a:avLst/>
          </a:prstGeom>
          <a:solidFill>
            <a:srgbClr val="2B333F"/>
          </a:solidFill>
          <a:ln w="9525">
            <a:solidFill>
              <a:srgbClr val="39D9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Gate-Level Path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Binary to Decimal Display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40080" y="3483864"/>
            <a:ext cx="109728" cy="109728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192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4-bit binary input is decoded using only basic AND, OR, and NOT gates.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4105656"/>
            <a:ext cx="109728" cy="109728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9410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K-map simplification with don't-care conditions minimizes the gate count for each segment.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727448"/>
            <a:ext cx="109728" cy="109728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5628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logic drives a 7-segment display, showing decimal digits 0–9.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5349240"/>
            <a:ext cx="109728" cy="109728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1846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demonstrates core digital logic principles used in real embedded and instrumentation systems.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6126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9D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Binary to Decimal Converter &amp; Display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1001</Words>
  <Application>Microsoft Office PowerPoint</Application>
  <PresentationFormat>Widescreen</PresentationFormat>
  <Paragraphs>242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MDPLDELL</cp:lastModifiedBy>
  <cp:revision>2</cp:revision>
  <dcterms:created xsi:type="dcterms:W3CDTF">2026-09-05T07:25:19Z</dcterms:created>
  <dcterms:modified xsi:type="dcterms:W3CDTF">2026-09-05T07:38:07Z</dcterms:modified>
</cp:coreProperties>
</file>